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8" r:id="rId5"/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F8572-525B-ED4B-8B8D-8F8A3E1BCA80}" v="3" dt="2026-09-21T09:00:14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9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ello Matthew (Contractor)" userId="273853d2-a5d2-4427-96a6-77c2e3c41298" providerId="ADAL" clId="{238F5C94-0C57-5419-B56D-7519A73AA18A}"/>
    <pc:docChg chg="custSel addSld modSld sldOrd">
      <pc:chgData name="Faiello Matthew (Contractor)" userId="273853d2-a5d2-4427-96a6-77c2e3c41298" providerId="ADAL" clId="{238F5C94-0C57-5419-B56D-7519A73AA18A}" dt="2026-09-21T09:01:22.013" v="161" actId="20577"/>
      <pc:docMkLst>
        <pc:docMk/>
      </pc:docMkLst>
      <pc:sldChg chg="modSp mod">
        <pc:chgData name="Faiello Matthew (Contractor)" userId="273853d2-a5d2-4427-96a6-77c2e3c41298" providerId="ADAL" clId="{238F5C94-0C57-5419-B56D-7519A73AA18A}" dt="2026-09-21T09:01:22.013" v="161" actId="20577"/>
        <pc:sldMkLst>
          <pc:docMk/>
          <pc:sldMk cId="0" sldId="256"/>
        </pc:sldMkLst>
        <pc:spChg chg="mod">
          <ac:chgData name="Faiello Matthew (Contractor)" userId="273853d2-a5d2-4427-96a6-77c2e3c41298" providerId="ADAL" clId="{238F5C94-0C57-5419-B56D-7519A73AA18A}" dt="2026-09-21T09:01:22.013" v="161" actId="20577"/>
          <ac:spMkLst>
            <pc:docMk/>
            <pc:sldMk cId="0" sldId="256"/>
            <ac:spMk id="31" creationId="{00000000-0000-0000-0000-000000000000}"/>
          </ac:spMkLst>
        </pc:spChg>
        <pc:picChg chg="mod">
          <ac:chgData name="Faiello Matthew (Contractor)" userId="273853d2-a5d2-4427-96a6-77c2e3c41298" providerId="ADAL" clId="{238F5C94-0C57-5419-B56D-7519A73AA18A}" dt="2026-09-20T22:10:16.534" v="0" actId="14861"/>
          <ac:picMkLst>
            <pc:docMk/>
            <pc:sldMk cId="0" sldId="256"/>
            <ac:picMk id="5" creationId="{00000000-0000-0000-0000-000000000000}"/>
          </ac:picMkLst>
        </pc:picChg>
      </pc:sldChg>
      <pc:sldChg chg="addSp delSp modSp mod">
        <pc:chgData name="Faiello Matthew (Contractor)" userId="273853d2-a5d2-4427-96a6-77c2e3c41298" providerId="ADAL" clId="{238F5C94-0C57-5419-B56D-7519A73AA18A}" dt="2026-09-20T22:12:44.805" v="155" actId="14100"/>
        <pc:sldMkLst>
          <pc:docMk/>
          <pc:sldMk cId="0" sldId="257"/>
        </pc:sldMkLst>
        <pc:spChg chg="mod">
          <ac:chgData name="Faiello Matthew (Contractor)" userId="273853d2-a5d2-4427-96a6-77c2e3c41298" providerId="ADAL" clId="{238F5C94-0C57-5419-B56D-7519A73AA18A}" dt="2026-09-20T22:11:13.178" v="26" actId="103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Faiello Matthew (Contractor)" userId="273853d2-a5d2-4427-96a6-77c2e3c41298" providerId="ADAL" clId="{238F5C94-0C57-5419-B56D-7519A73AA18A}" dt="2026-09-20T22:11:00.355" v="19" actId="1038"/>
          <ac:spMkLst>
            <pc:docMk/>
            <pc:sldMk cId="0" sldId="257"/>
            <ac:spMk id="19" creationId="{00000000-0000-0000-0000-000000000000}"/>
          </ac:spMkLst>
        </pc:spChg>
        <pc:spChg chg="mod">
          <ac:chgData name="Faiello Matthew (Contractor)" userId="273853d2-a5d2-4427-96a6-77c2e3c41298" providerId="ADAL" clId="{238F5C94-0C57-5419-B56D-7519A73AA18A}" dt="2026-09-20T22:12:03.390" v="131" actId="1038"/>
          <ac:spMkLst>
            <pc:docMk/>
            <pc:sldMk cId="0" sldId="257"/>
            <ac:spMk id="26" creationId="{00000000-0000-0000-0000-000000000000}"/>
          </ac:spMkLst>
        </pc:spChg>
        <pc:spChg chg="mod">
          <ac:chgData name="Faiello Matthew (Contractor)" userId="273853d2-a5d2-4427-96a6-77c2e3c41298" providerId="ADAL" clId="{238F5C94-0C57-5419-B56D-7519A73AA18A}" dt="2026-09-20T22:11:26.687" v="58" actId="1035"/>
          <ac:spMkLst>
            <pc:docMk/>
            <pc:sldMk cId="0" sldId="257"/>
            <ac:spMk id="33" creationId="{00000000-0000-0000-0000-000000000000}"/>
          </ac:spMkLst>
        </pc:spChg>
        <pc:spChg chg="mod">
          <ac:chgData name="Faiello Matthew (Contractor)" userId="273853d2-a5d2-4427-96a6-77c2e3c41298" providerId="ADAL" clId="{238F5C94-0C57-5419-B56D-7519A73AA18A}" dt="2026-09-20T22:12:08.464" v="141" actId="1037"/>
          <ac:spMkLst>
            <pc:docMk/>
            <pc:sldMk cId="0" sldId="257"/>
            <ac:spMk id="45" creationId="{BD510D90-7E08-3841-A292-B3D91DF9842C}"/>
          </ac:spMkLst>
        </pc:spChg>
        <pc:spChg chg="mod">
          <ac:chgData name="Faiello Matthew (Contractor)" userId="273853d2-a5d2-4427-96a6-77c2e3c41298" providerId="ADAL" clId="{238F5C94-0C57-5419-B56D-7519A73AA18A}" dt="2026-09-20T22:12:15.680" v="152" actId="1037"/>
          <ac:spMkLst>
            <pc:docMk/>
            <pc:sldMk cId="0" sldId="257"/>
            <ac:spMk id="46" creationId="{A4174E70-5D7A-41ED-6D32-A20AC0C31266}"/>
          </ac:spMkLst>
        </pc:spChg>
        <pc:spChg chg="mod">
          <ac:chgData name="Faiello Matthew (Contractor)" userId="273853d2-a5d2-4427-96a6-77c2e3c41298" providerId="ADAL" clId="{238F5C94-0C57-5419-B56D-7519A73AA18A}" dt="2026-09-20T22:11:42.861" v="87" actId="1036"/>
          <ac:spMkLst>
            <pc:docMk/>
            <pc:sldMk cId="0" sldId="257"/>
            <ac:spMk id="52" creationId="{D6BD9948-55D3-FC99-7E4F-791DC06A67F8}"/>
          </ac:spMkLst>
        </pc:spChg>
        <pc:spChg chg="mod">
          <ac:chgData name="Faiello Matthew (Contractor)" userId="273853d2-a5d2-4427-96a6-77c2e3c41298" providerId="ADAL" clId="{238F5C94-0C57-5419-B56D-7519A73AA18A}" dt="2026-09-20T22:11:52.809" v="110" actId="1035"/>
          <ac:spMkLst>
            <pc:docMk/>
            <pc:sldMk cId="0" sldId="257"/>
            <ac:spMk id="53" creationId="{CB76D56E-9FE1-CA34-2916-54858BC4B159}"/>
          </ac:spMkLst>
        </pc:spChg>
        <pc:picChg chg="del">
          <ac:chgData name="Faiello Matthew (Contractor)" userId="273853d2-a5d2-4427-96a6-77c2e3c41298" providerId="ADAL" clId="{238F5C94-0C57-5419-B56D-7519A73AA18A}" dt="2026-09-20T22:10:36.648" v="1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Faiello Matthew (Contractor)" userId="273853d2-a5d2-4427-96a6-77c2e3c41298" providerId="ADAL" clId="{238F5C94-0C57-5419-B56D-7519A73AA18A}" dt="2026-09-20T22:10:48.297" v="3" actId="167"/>
          <ac:picMkLst>
            <pc:docMk/>
            <pc:sldMk cId="0" sldId="257"/>
            <ac:picMk id="37" creationId="{FD93E386-9B4E-529A-C146-428E5F93E0BE}"/>
          </ac:picMkLst>
        </pc:picChg>
        <pc:cxnChg chg="mod">
          <ac:chgData name="Faiello Matthew (Contractor)" userId="273853d2-a5d2-4427-96a6-77c2e3c41298" providerId="ADAL" clId="{238F5C94-0C57-5419-B56D-7519A73AA18A}" dt="2026-09-20T22:11:13.178" v="26" actId="1035"/>
          <ac:cxnSpMkLst>
            <pc:docMk/>
            <pc:sldMk cId="0" sldId="257"/>
            <ac:cxnSpMk id="11" creationId="{00000000-0000-0000-0000-000000000000}"/>
          </ac:cxnSpMkLst>
        </pc:cxnChg>
        <pc:cxnChg chg="mod">
          <ac:chgData name="Faiello Matthew (Contractor)" userId="273853d2-a5d2-4427-96a6-77c2e3c41298" providerId="ADAL" clId="{238F5C94-0C57-5419-B56D-7519A73AA18A}" dt="2026-09-20T22:11:00.355" v="19" actId="1038"/>
          <ac:cxnSpMkLst>
            <pc:docMk/>
            <pc:sldMk cId="0" sldId="257"/>
            <ac:cxnSpMk id="18" creationId="{00000000-0000-0000-0000-000000000000}"/>
          </ac:cxnSpMkLst>
        </pc:cxnChg>
        <pc:cxnChg chg="mod">
          <ac:chgData name="Faiello Matthew (Contractor)" userId="273853d2-a5d2-4427-96a6-77c2e3c41298" providerId="ADAL" clId="{238F5C94-0C57-5419-B56D-7519A73AA18A}" dt="2026-09-20T22:12:32.505" v="153" actId="14100"/>
          <ac:cxnSpMkLst>
            <pc:docMk/>
            <pc:sldMk cId="0" sldId="257"/>
            <ac:cxnSpMk id="25" creationId="{00000000-0000-0000-0000-000000000000}"/>
          </ac:cxnSpMkLst>
        </pc:cxnChg>
        <pc:cxnChg chg="mod">
          <ac:chgData name="Faiello Matthew (Contractor)" userId="273853d2-a5d2-4427-96a6-77c2e3c41298" providerId="ADAL" clId="{238F5C94-0C57-5419-B56D-7519A73AA18A}" dt="2026-09-20T22:11:31.323" v="59" actId="14100"/>
          <ac:cxnSpMkLst>
            <pc:docMk/>
            <pc:sldMk cId="0" sldId="257"/>
            <ac:cxnSpMk id="32" creationId="{00000000-0000-0000-0000-000000000000}"/>
          </ac:cxnSpMkLst>
        </pc:cxnChg>
        <pc:cxnChg chg="mod">
          <ac:chgData name="Faiello Matthew (Contractor)" userId="273853d2-a5d2-4427-96a6-77c2e3c41298" providerId="ADAL" clId="{238F5C94-0C57-5419-B56D-7519A73AA18A}" dt="2026-09-20T22:12:37.421" v="154" actId="14100"/>
          <ac:cxnSpMkLst>
            <pc:docMk/>
            <pc:sldMk cId="0" sldId="257"/>
            <ac:cxnSpMk id="43" creationId="{D7A38FE4-52B2-A59C-FF9D-E787E4516D2C}"/>
          </ac:cxnSpMkLst>
        </pc:cxnChg>
        <pc:cxnChg chg="mod">
          <ac:chgData name="Faiello Matthew (Contractor)" userId="273853d2-a5d2-4427-96a6-77c2e3c41298" providerId="ADAL" clId="{238F5C94-0C57-5419-B56D-7519A73AA18A}" dt="2026-09-20T22:12:44.805" v="155" actId="14100"/>
          <ac:cxnSpMkLst>
            <pc:docMk/>
            <pc:sldMk cId="0" sldId="257"/>
            <ac:cxnSpMk id="44" creationId="{AA107772-B45A-AD4C-62EA-A80C9BDB68D7}"/>
          </ac:cxnSpMkLst>
        </pc:cxnChg>
        <pc:cxnChg chg="mod">
          <ac:chgData name="Faiello Matthew (Contractor)" userId="273853d2-a5d2-4427-96a6-77c2e3c41298" providerId="ADAL" clId="{238F5C94-0C57-5419-B56D-7519A73AA18A}" dt="2026-09-20T22:11:42.861" v="87" actId="1036"/>
          <ac:cxnSpMkLst>
            <pc:docMk/>
            <pc:sldMk cId="0" sldId="257"/>
            <ac:cxnSpMk id="50" creationId="{ADB1560D-F3D9-9859-F6D9-2A37080BA887}"/>
          </ac:cxnSpMkLst>
        </pc:cxnChg>
        <pc:cxnChg chg="mod">
          <ac:chgData name="Faiello Matthew (Contractor)" userId="273853d2-a5d2-4427-96a6-77c2e3c41298" providerId="ADAL" clId="{238F5C94-0C57-5419-B56D-7519A73AA18A}" dt="2026-09-20T22:11:52.809" v="110" actId="1035"/>
          <ac:cxnSpMkLst>
            <pc:docMk/>
            <pc:sldMk cId="0" sldId="257"/>
            <ac:cxnSpMk id="51" creationId="{2C9C1361-237F-BF0A-D9F6-49C554569C6B}"/>
          </ac:cxnSpMkLst>
        </pc:cxnChg>
      </pc:sldChg>
      <pc:sldChg chg="add ord">
        <pc:chgData name="Faiello Matthew (Contractor)" userId="273853d2-a5d2-4427-96a6-77c2e3c41298" providerId="ADAL" clId="{238F5C94-0C57-5419-B56D-7519A73AA18A}" dt="2026-09-21T09:00:16.293" v="157" actId="20578"/>
        <pc:sldMkLst>
          <pc:docMk/>
          <pc:sldMk cId="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201168"/>
            <a:ext cx="960120" cy="45720"/>
          </a:xfrm>
          <a:prstGeom prst="rect">
            <a:avLst/>
          </a:prstGeom>
          <a:solidFill>
            <a:srgbClr val="D99100"/>
          </a:solidFill>
          <a:ln>
            <a:solidFill>
              <a:srgbClr val="D9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03D6A"/>
                </a:solidFill>
                <a:latin typeface="Aptos"/>
              </a:rPr>
              <a:t>Biweekly FAFSA Completion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96112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50" b="0">
                <a:solidFill>
                  <a:srgbClr val="184368"/>
                </a:solidFill>
                <a:latin typeface="Aptos"/>
              </a:rPr>
              <a:t>A school-specific FAFSA update with a two-week snapshot, dashboard link, and support resources.</a:t>
            </a:r>
          </a:p>
        </p:txBody>
      </p:sp>
      <p:pic>
        <p:nvPicPr>
          <p:cNvPr id="5" name="Picture 4" descr="fafsa_email_redacted_4x3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325880"/>
            <a:ext cx="6492240" cy="486460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cxnSp>
        <p:nvCxnSpPr>
          <p:cNvPr id="6" name="Connector 5"/>
          <p:cNvCxnSpPr>
            <a:cxnSpLocks/>
            <a:stCxn id="14" idx="3"/>
            <a:endCxn id="7" idx="1"/>
          </p:cNvCxnSpPr>
          <p:nvPr/>
        </p:nvCxnSpPr>
        <p:spPr>
          <a:xfrm>
            <a:off x="2365111" y="5140670"/>
            <a:ext cx="530756" cy="838043"/>
          </a:xfrm>
          <a:prstGeom prst="line">
            <a:avLst/>
          </a:prstGeom>
          <a:ln w="19050">
            <a:solidFill>
              <a:srgbClr val="003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885154" y="5968000"/>
            <a:ext cx="73152" cy="73152"/>
          </a:xfrm>
          <a:prstGeom prst="ellipse">
            <a:avLst/>
          </a:prstGeom>
          <a:solidFill>
            <a:srgbClr val="003D6A"/>
          </a:solidFill>
          <a:ln>
            <a:solidFill>
              <a:srgbClr val="00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>
            <a:cxnSpLocks/>
            <a:stCxn id="18" idx="1"/>
            <a:endCxn id="9" idx="7"/>
          </p:cNvCxnSpPr>
          <p:nvPr/>
        </p:nvCxnSpPr>
        <p:spPr>
          <a:xfrm flipH="1">
            <a:off x="6840746" y="2892987"/>
            <a:ext cx="2943334" cy="915547"/>
          </a:xfrm>
          <a:prstGeom prst="line">
            <a:avLst/>
          </a:prstGeom>
          <a:ln w="19050">
            <a:solidFill>
              <a:srgbClr val="D9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778307" y="3797821"/>
            <a:ext cx="73152" cy="73152"/>
          </a:xfrm>
          <a:prstGeom prst="ellipse">
            <a:avLst/>
          </a:prstGeom>
          <a:solidFill>
            <a:srgbClr val="D99100"/>
          </a:solidFill>
          <a:ln>
            <a:solidFill>
              <a:srgbClr val="D9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>
            <a:cxnSpLocks/>
            <a:stCxn id="22" idx="3"/>
            <a:endCxn id="11" idx="1"/>
          </p:cNvCxnSpPr>
          <p:nvPr/>
        </p:nvCxnSpPr>
        <p:spPr>
          <a:xfrm>
            <a:off x="2356402" y="3264423"/>
            <a:ext cx="540756" cy="1422799"/>
          </a:xfrm>
          <a:prstGeom prst="line">
            <a:avLst/>
          </a:prstGeom>
          <a:ln w="19050">
            <a:solidFill>
              <a:srgbClr val="003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86445" y="4676509"/>
            <a:ext cx="73152" cy="73152"/>
          </a:xfrm>
          <a:prstGeom prst="ellipse">
            <a:avLst/>
          </a:prstGeom>
          <a:solidFill>
            <a:srgbClr val="003D6A"/>
          </a:solidFill>
          <a:ln>
            <a:solidFill>
              <a:srgbClr val="00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0280" y="4587458"/>
            <a:ext cx="2084831" cy="1106424"/>
          </a:xfrm>
          <a:prstGeom prst="roundRect">
            <a:avLst/>
          </a:prstGeom>
          <a:solidFill>
            <a:srgbClr val="E7F4FF"/>
          </a:solidFill>
          <a:ln>
            <a:solidFill>
              <a:srgbClr val="E7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1720" y="4715474"/>
            <a:ext cx="384048" cy="384048"/>
          </a:xfrm>
          <a:prstGeom prst="ellipse">
            <a:avLst/>
          </a:prstGeom>
          <a:solidFill>
            <a:srgbClr val="003D6A"/>
          </a:solidFill>
          <a:ln>
            <a:solidFill>
              <a:srgbClr val="00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/>
              </a:rPr>
              <a:t>3</a:t>
            </a:r>
            <a:endParaRPr sz="18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784080" y="2316915"/>
            <a:ext cx="2084831" cy="1152144"/>
          </a:xfrm>
          <a:prstGeom prst="roundRect">
            <a:avLst/>
          </a:prstGeom>
          <a:solidFill>
            <a:srgbClr val="FFF3D8"/>
          </a:solidFill>
          <a:ln>
            <a:solidFill>
              <a:srgbClr val="FFF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875519" y="2444931"/>
            <a:ext cx="384048" cy="384048"/>
          </a:xfrm>
          <a:prstGeom prst="ellipse">
            <a:avLst/>
          </a:prstGeom>
          <a:solidFill>
            <a:srgbClr val="D99100"/>
          </a:solidFill>
          <a:ln>
            <a:solidFill>
              <a:srgbClr val="D9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/>
              </a:rPr>
              <a:t>1</a:t>
            </a:r>
            <a:endParaRPr sz="18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1571" y="2670062"/>
            <a:ext cx="2084831" cy="1188721"/>
          </a:xfrm>
          <a:prstGeom prst="roundRect">
            <a:avLst/>
          </a:prstGeom>
          <a:solidFill>
            <a:srgbClr val="E7F4FF"/>
          </a:solidFill>
          <a:ln>
            <a:solidFill>
              <a:srgbClr val="E7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3011" y="2798078"/>
            <a:ext cx="384048" cy="384048"/>
          </a:xfrm>
          <a:prstGeom prst="ellipse">
            <a:avLst/>
          </a:prstGeom>
          <a:solidFill>
            <a:srgbClr val="003D6A"/>
          </a:solidFill>
          <a:ln>
            <a:solidFill>
              <a:srgbClr val="00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/>
              </a:rPr>
              <a:t>2</a:t>
            </a:r>
            <a:endParaRPr sz="18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4048" y="632764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rgbClr val="003D6A"/>
                </a:solidFill>
                <a:latin typeface="Georgia"/>
              </a:rPr>
              <a:t>Delaware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" y="6537960"/>
            <a:ext cx="160020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0066A1"/>
                </a:solidFill>
                <a:latin typeface="Aptos"/>
              </a:rPr>
              <a:t>Department of Education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6528816"/>
            <a:ext cx="8595360" cy="9144"/>
          </a:xfrm>
          <a:prstGeom prst="rect">
            <a:avLst/>
          </a:prstGeom>
          <a:solidFill>
            <a:srgbClr val="9ED0EF"/>
          </a:solidFill>
          <a:ln>
            <a:solidFill>
              <a:srgbClr val="9ED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AFA2A5-8871-5B6C-8F34-3151D4934548}"/>
              </a:ext>
            </a:extLst>
          </p:cNvPr>
          <p:cNvSpPr txBox="1"/>
          <p:nvPr/>
        </p:nvSpPr>
        <p:spPr>
          <a:xfrm>
            <a:off x="10309641" y="2441448"/>
            <a:ext cx="139903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20" b="1" dirty="0">
                <a:solidFill>
                  <a:srgbClr val="003D6A"/>
                </a:solidFill>
                <a:latin typeface="Aptos"/>
              </a:rPr>
              <a:t>Biweekly</a:t>
            </a:r>
          </a:p>
          <a:p>
            <a:r>
              <a:rPr sz="1320" b="1" dirty="0">
                <a:solidFill>
                  <a:srgbClr val="003D6A"/>
                </a:solidFill>
                <a:latin typeface="Aptos"/>
              </a:rPr>
              <a:t>snapshot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5106A7-F32C-2013-0879-321657E6F9FA}"/>
              </a:ext>
            </a:extLst>
          </p:cNvPr>
          <p:cNvSpPr txBox="1"/>
          <p:nvPr/>
        </p:nvSpPr>
        <p:spPr>
          <a:xfrm>
            <a:off x="10309641" y="2907792"/>
            <a:ext cx="1399031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9" b="0" dirty="0">
                <a:solidFill>
                  <a:srgbClr val="003D6A"/>
                </a:solidFill>
                <a:latin typeface="Aptos"/>
              </a:rPr>
              <a:t>Current rate plus</a:t>
            </a:r>
          </a:p>
          <a:p>
            <a:r>
              <a:rPr sz="969" b="0" dirty="0">
                <a:solidFill>
                  <a:srgbClr val="003D6A"/>
                </a:solidFill>
                <a:latin typeface="Aptos"/>
              </a:rPr>
              <a:t>two-week</a:t>
            </a:r>
          </a:p>
          <a:p>
            <a:r>
              <a:rPr sz="969" b="0" dirty="0">
                <a:solidFill>
                  <a:srgbClr val="003D6A"/>
                </a:solidFill>
                <a:latin typeface="Aptos"/>
              </a:rPr>
              <a:t>comparison.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40AAF9-4FD3-B4A5-5A47-3C4ACE9403C2}"/>
              </a:ext>
            </a:extLst>
          </p:cNvPr>
          <p:cNvSpPr txBox="1"/>
          <p:nvPr/>
        </p:nvSpPr>
        <p:spPr>
          <a:xfrm>
            <a:off x="801922" y="2798078"/>
            <a:ext cx="139903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20" b="1" dirty="0">
                <a:solidFill>
                  <a:srgbClr val="003D6A"/>
                </a:solidFill>
                <a:latin typeface="Aptos"/>
              </a:rPr>
              <a:t>Dashboard</a:t>
            </a:r>
          </a:p>
          <a:p>
            <a:r>
              <a:rPr lang="en-US" sz="1320" b="1" dirty="0">
                <a:solidFill>
                  <a:srgbClr val="003D6A"/>
                </a:solidFill>
                <a:latin typeface="Aptos"/>
              </a:rPr>
              <a:t>link</a:t>
            </a:r>
            <a:endParaRPr sz="1320" b="1" dirty="0">
              <a:solidFill>
                <a:srgbClr val="003D6A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5E2E4F-7869-46FA-BBF6-9976B8E9BD42}"/>
              </a:ext>
            </a:extLst>
          </p:cNvPr>
          <p:cNvSpPr txBox="1"/>
          <p:nvPr/>
        </p:nvSpPr>
        <p:spPr>
          <a:xfrm>
            <a:off x="806713" y="3245699"/>
            <a:ext cx="1399031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69" b="0">
                <a:solidFill>
                  <a:srgbClr val="003D6A"/>
                </a:solidFill>
                <a:latin typeface="Aptos"/>
              </a:rPr>
              <a:t>Opens broader</a:t>
            </a:r>
          </a:p>
          <a:p>
            <a:r>
              <a:rPr sz="969" b="0">
                <a:solidFill>
                  <a:srgbClr val="003D6A"/>
                </a:solidFill>
                <a:latin typeface="Aptos"/>
              </a:rPr>
              <a:t>FAFSA completion</a:t>
            </a:r>
          </a:p>
          <a:p>
            <a:r>
              <a:rPr sz="969" b="0">
                <a:solidFill>
                  <a:srgbClr val="003D6A"/>
                </a:solidFill>
                <a:latin typeface="Aptos"/>
              </a:rPr>
              <a:t>trends.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6D6B80-4966-3406-26C2-FEC4811C385D}"/>
              </a:ext>
            </a:extLst>
          </p:cNvPr>
          <p:cNvSpPr txBox="1"/>
          <p:nvPr/>
        </p:nvSpPr>
        <p:spPr>
          <a:xfrm>
            <a:off x="810631" y="4723530"/>
            <a:ext cx="139903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20" b="1" dirty="0">
                <a:solidFill>
                  <a:srgbClr val="003D6A"/>
                </a:solidFill>
                <a:latin typeface="Aptos"/>
              </a:rPr>
              <a:t>Support</a:t>
            </a:r>
          </a:p>
          <a:p>
            <a:r>
              <a:rPr sz="1320" b="1" dirty="0">
                <a:solidFill>
                  <a:srgbClr val="003D6A"/>
                </a:solidFill>
                <a:latin typeface="Aptos"/>
              </a:rPr>
              <a:t>resources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F99A7A-8296-153C-A50B-B6FB79C434CB}"/>
              </a:ext>
            </a:extLst>
          </p:cNvPr>
          <p:cNvSpPr txBox="1"/>
          <p:nvPr/>
        </p:nvSpPr>
        <p:spPr>
          <a:xfrm>
            <a:off x="815422" y="5196841"/>
            <a:ext cx="1399031" cy="2982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969" dirty="0">
                <a:solidFill>
                  <a:srgbClr val="003D6A"/>
                </a:solidFill>
                <a:latin typeface="Aptos"/>
              </a:rPr>
              <a:t>F</a:t>
            </a:r>
            <a:r>
              <a:rPr sz="969" b="0" dirty="0">
                <a:solidFill>
                  <a:srgbClr val="003D6A"/>
                </a:solidFill>
                <a:latin typeface="Aptos"/>
              </a:rPr>
              <a:t>ree FAFSA</a:t>
            </a:r>
          </a:p>
          <a:p>
            <a:r>
              <a:rPr sz="969" b="0" dirty="0">
                <a:solidFill>
                  <a:srgbClr val="003D6A"/>
                </a:solidFill>
                <a:latin typeface="Aptos"/>
              </a:rPr>
              <a:t>completion help.</a:t>
            </a:r>
          </a:p>
        </p:txBody>
      </p:sp>
      <p:cxnSp>
        <p:nvCxnSpPr>
          <p:cNvPr id="48" name="Connector 7">
            <a:extLst>
              <a:ext uri="{FF2B5EF4-FFF2-40B4-BE49-F238E27FC236}">
                <a16:creationId xmlns:a16="http://schemas.microsoft.com/office/drawing/2014/main" id="{E309855F-8747-B718-99B9-9127A8A79CA3}"/>
              </a:ext>
            </a:extLst>
          </p:cNvPr>
          <p:cNvCxnSpPr>
            <a:cxnSpLocks/>
            <a:stCxn id="18" idx="1"/>
            <a:endCxn id="49" idx="7"/>
          </p:cNvCxnSpPr>
          <p:nvPr/>
        </p:nvCxnSpPr>
        <p:spPr>
          <a:xfrm flipH="1">
            <a:off x="6845097" y="2892987"/>
            <a:ext cx="2938983" cy="1172454"/>
          </a:xfrm>
          <a:prstGeom prst="line">
            <a:avLst/>
          </a:prstGeom>
          <a:ln w="19050">
            <a:solidFill>
              <a:srgbClr val="D99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182720BA-1A1B-2A64-4AC9-DB9590A4D831}"/>
              </a:ext>
            </a:extLst>
          </p:cNvPr>
          <p:cNvSpPr/>
          <p:nvPr/>
        </p:nvSpPr>
        <p:spPr>
          <a:xfrm>
            <a:off x="6782658" y="4054728"/>
            <a:ext cx="73152" cy="73152"/>
          </a:xfrm>
          <a:prstGeom prst="ellipse">
            <a:avLst/>
          </a:prstGeom>
          <a:solidFill>
            <a:srgbClr val="D99100"/>
          </a:solidFill>
          <a:ln>
            <a:solidFill>
              <a:srgbClr val="D9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201168"/>
            <a:ext cx="960120" cy="45720"/>
          </a:xfrm>
          <a:prstGeom prst="rect">
            <a:avLst/>
          </a:prstGeom>
          <a:solidFill>
            <a:srgbClr val="E69500"/>
          </a:solidFill>
          <a:ln w="9525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365760"/>
            <a:ext cx="10972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03C71"/>
                </a:solidFill>
                <a:latin typeface="Aptos Display"/>
              </a:rPr>
              <a:t>FAFSA Completion 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96112"/>
            <a:ext cx="1106424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1F4E79"/>
                </a:solidFill>
                <a:latin typeface="Aptos"/>
              </a:rPr>
              <a:t>The dashboard helps users track cumulative FAFSA completion by month for a selected school, its LEA, and the state.</a:t>
            </a:r>
          </a:p>
        </p:txBody>
      </p:sp>
      <p:pic>
        <p:nvPicPr>
          <p:cNvPr id="5" name="Picture 4" descr="fafsa_app_redacte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325880"/>
            <a:ext cx="6492240" cy="486460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6" name="Rounded Rectangle 5"/>
          <p:cNvSpPr/>
          <p:nvPr/>
        </p:nvSpPr>
        <p:spPr>
          <a:xfrm>
            <a:off x="274320" y="1508760"/>
            <a:ext cx="2084831" cy="987552"/>
          </a:xfrm>
          <a:prstGeom prst="roundRect">
            <a:avLst/>
          </a:prstGeom>
          <a:solidFill>
            <a:srgbClr val="EAF5FF"/>
          </a:solidFill>
          <a:ln w="9525">
            <a:solidFill>
              <a:srgbClr val="EA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5760" y="1636776"/>
            <a:ext cx="384048" cy="384048"/>
          </a:xfrm>
          <a:prstGeom prst="ellipse">
            <a:avLst/>
          </a:prstGeom>
          <a:solidFill>
            <a:srgbClr val="003C71"/>
          </a:solidFill>
          <a:ln w="6350"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719072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42601"/>
            <a:ext cx="1070806" cy="1785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60" b="1" dirty="0">
                <a:solidFill>
                  <a:srgbClr val="003C71"/>
                </a:solidFill>
                <a:latin typeface="Aptos Display"/>
              </a:rPr>
              <a:t>School year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0" y="2025178"/>
            <a:ext cx="1426463" cy="2011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9" b="0" dirty="0">
                <a:solidFill>
                  <a:srgbClr val="1F4E79"/>
                </a:solidFill>
                <a:latin typeface="Aptos"/>
              </a:rPr>
              <a:t>Select a school year
to view data.</a:t>
            </a:r>
          </a:p>
        </p:txBody>
      </p:sp>
      <p:cxnSp>
        <p:nvCxnSpPr>
          <p:cNvPr id="11" name="Connector 10"/>
          <p:cNvCxnSpPr>
            <a:cxnSpLocks/>
            <a:endCxn id="12" idx="2"/>
          </p:cNvCxnSpPr>
          <p:nvPr/>
        </p:nvCxnSpPr>
        <p:spPr>
          <a:xfrm flipV="1">
            <a:off x="2359151" y="1918061"/>
            <a:ext cx="471574" cy="29611"/>
          </a:xfrm>
          <a:prstGeom prst="line">
            <a:avLst/>
          </a:prstGeom>
          <a:ln w="17780">
            <a:solidFill>
              <a:srgbClr val="003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30725" y="1881485"/>
            <a:ext cx="73152" cy="73152"/>
          </a:xfrm>
          <a:prstGeom prst="ellipse">
            <a:avLst/>
          </a:prstGeom>
          <a:solidFill>
            <a:srgbClr val="003C71"/>
          </a:solidFill>
          <a:ln w="6350"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84080" y="1508760"/>
            <a:ext cx="2084831" cy="1152144"/>
          </a:xfrm>
          <a:prstGeom prst="roundRect">
            <a:avLst/>
          </a:prstGeom>
          <a:solidFill>
            <a:srgbClr val="FFF5DE"/>
          </a:solidFill>
          <a:ln w="9525"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75519" y="1636776"/>
            <a:ext cx="384048" cy="384048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19" y="1719072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4432" y="1760453"/>
            <a:ext cx="1365758" cy="1785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60" b="1" dirty="0">
                <a:solidFill>
                  <a:srgbClr val="003C71"/>
                </a:solidFill>
                <a:latin typeface="Aptos Display"/>
              </a:rPr>
              <a:t>LEA and school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4432" y="2053061"/>
            <a:ext cx="14264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9" b="0" dirty="0">
                <a:solidFill>
                  <a:srgbClr val="1F4E79"/>
                </a:solidFill>
                <a:latin typeface="Aptos"/>
              </a:rPr>
              <a:t>Select an LEA and school
to view the corresponding
data.</a:t>
            </a:r>
          </a:p>
        </p:txBody>
      </p:sp>
      <p:cxnSp>
        <p:nvCxnSpPr>
          <p:cNvPr id="18" name="Connector 17"/>
          <p:cNvCxnSpPr>
            <a:cxnSpLocks/>
            <a:endCxn id="19" idx="6"/>
          </p:cNvCxnSpPr>
          <p:nvPr/>
        </p:nvCxnSpPr>
        <p:spPr>
          <a:xfrm flipH="1" flipV="1">
            <a:off x="8882304" y="1880178"/>
            <a:ext cx="901776" cy="122358"/>
          </a:xfrm>
          <a:prstGeom prst="line">
            <a:avLst/>
          </a:prstGeom>
          <a:ln w="17780">
            <a:solidFill>
              <a:srgbClr val="E6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809152" y="1843602"/>
            <a:ext cx="73152" cy="73152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4320" y="3273552"/>
            <a:ext cx="2084831" cy="1335024"/>
          </a:xfrm>
          <a:prstGeom prst="roundRect">
            <a:avLst/>
          </a:prstGeom>
          <a:solidFill>
            <a:srgbClr val="EAF5FF"/>
          </a:solidFill>
          <a:ln w="9525">
            <a:solidFill>
              <a:srgbClr val="EA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5760" y="3401568"/>
            <a:ext cx="384048" cy="384048"/>
          </a:xfrm>
          <a:prstGeom prst="ellipse">
            <a:avLst/>
          </a:prstGeom>
          <a:solidFill>
            <a:srgbClr val="003C71"/>
          </a:solidFill>
          <a:ln w="6350"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483864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421193"/>
            <a:ext cx="1344169" cy="3570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1" dirty="0">
                <a:solidFill>
                  <a:srgbClr val="003C71"/>
                </a:solidFill>
                <a:latin typeface="Aptos Display"/>
              </a:rPr>
              <a:t>Cumulative
completion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0" y="3880975"/>
            <a:ext cx="1426463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9" b="0" dirty="0">
                <a:solidFill>
                  <a:srgbClr val="1F4E79"/>
                </a:solidFill>
                <a:latin typeface="Aptos"/>
              </a:rPr>
              <a:t>View the monthly
cumulative FAFSA
completion for the
school, LEA, and state.</a:t>
            </a:r>
          </a:p>
        </p:txBody>
      </p:sp>
      <p:cxnSp>
        <p:nvCxnSpPr>
          <p:cNvPr id="25" name="Connector 24"/>
          <p:cNvCxnSpPr>
            <a:cxnSpLocks/>
            <a:endCxn id="26" idx="2"/>
          </p:cNvCxnSpPr>
          <p:nvPr/>
        </p:nvCxnSpPr>
        <p:spPr>
          <a:xfrm flipV="1">
            <a:off x="2359151" y="3730752"/>
            <a:ext cx="3615374" cy="210312"/>
          </a:xfrm>
          <a:prstGeom prst="line">
            <a:avLst/>
          </a:prstGeom>
          <a:ln w="17780">
            <a:solidFill>
              <a:srgbClr val="003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974525" y="3694176"/>
            <a:ext cx="73152" cy="73152"/>
          </a:xfrm>
          <a:prstGeom prst="ellipse">
            <a:avLst/>
          </a:prstGeom>
          <a:solidFill>
            <a:srgbClr val="003C71"/>
          </a:solidFill>
          <a:ln w="6350"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84080" y="4297680"/>
            <a:ext cx="2084831" cy="1152144"/>
          </a:xfrm>
          <a:prstGeom prst="roundRect">
            <a:avLst/>
          </a:prstGeom>
          <a:solidFill>
            <a:srgbClr val="FFF5DE"/>
          </a:solidFill>
          <a:ln w="9525"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875519" y="4425696"/>
            <a:ext cx="384048" cy="384048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19" y="4507992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4439209"/>
            <a:ext cx="1179810" cy="3570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60" b="1" dirty="0">
                <a:solidFill>
                  <a:srgbClr val="003C71"/>
                </a:solidFill>
                <a:latin typeface="Aptos Display"/>
              </a:rPr>
              <a:t>Quick
interpretation note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4432" y="4864608"/>
            <a:ext cx="1109278" cy="4474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9" b="0" dirty="0">
                <a:solidFill>
                  <a:srgbClr val="1F4E79"/>
                </a:solidFill>
                <a:latin typeface="Aptos"/>
              </a:rPr>
              <a:t>Use th</a:t>
            </a:r>
            <a:r>
              <a:rPr lang="en-US" sz="969" b="0" dirty="0">
                <a:solidFill>
                  <a:srgbClr val="1F4E79"/>
                </a:solidFill>
                <a:latin typeface="Aptos"/>
              </a:rPr>
              <a:t>e</a:t>
            </a:r>
            <a:r>
              <a:rPr sz="969" b="0" dirty="0">
                <a:solidFill>
                  <a:srgbClr val="1F4E79"/>
                </a:solidFill>
                <a:latin typeface="Aptos"/>
              </a:rPr>
              <a:t>s</a:t>
            </a:r>
            <a:r>
              <a:rPr lang="en-US" sz="969" b="0" dirty="0">
                <a:solidFill>
                  <a:srgbClr val="1F4E79"/>
                </a:solidFill>
                <a:latin typeface="Aptos"/>
              </a:rPr>
              <a:t>e</a:t>
            </a:r>
            <a:r>
              <a:rPr sz="969" b="0" dirty="0">
                <a:solidFill>
                  <a:srgbClr val="1F4E79"/>
                </a:solidFill>
                <a:latin typeface="Aptos"/>
              </a:rPr>
              <a:t> note</a:t>
            </a:r>
            <a:r>
              <a:rPr lang="en-US" sz="969" b="0" dirty="0">
                <a:solidFill>
                  <a:srgbClr val="1F4E79"/>
                </a:solidFill>
                <a:latin typeface="Aptos"/>
              </a:rPr>
              <a:t>s</a:t>
            </a:r>
            <a:r>
              <a:rPr sz="969" b="0" dirty="0">
                <a:solidFill>
                  <a:srgbClr val="1F4E79"/>
                </a:solidFill>
                <a:latin typeface="Aptos"/>
              </a:rPr>
              <a:t> to
understand what the
chart shows.</a:t>
            </a:r>
          </a:p>
        </p:txBody>
      </p:sp>
      <p:cxnSp>
        <p:nvCxnSpPr>
          <p:cNvPr id="32" name="Connector 31"/>
          <p:cNvCxnSpPr>
            <a:cxnSpLocks/>
            <a:stCxn id="27" idx="1"/>
            <a:endCxn id="33" idx="7"/>
          </p:cNvCxnSpPr>
          <p:nvPr/>
        </p:nvCxnSpPr>
        <p:spPr>
          <a:xfrm flipH="1">
            <a:off x="7695931" y="4873752"/>
            <a:ext cx="2088149" cy="1073598"/>
          </a:xfrm>
          <a:prstGeom prst="line">
            <a:avLst/>
          </a:prstGeom>
          <a:ln w="17780">
            <a:solidFill>
              <a:srgbClr val="E6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633492" y="5936637"/>
            <a:ext cx="73152" cy="73152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" y="6327648"/>
            <a:ext cx="1508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3C71"/>
                </a:solidFill>
                <a:latin typeface="Georgia"/>
              </a:rPr>
              <a:t>Delaware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6537960"/>
            <a:ext cx="160020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690B8"/>
                </a:solidFill>
                <a:latin typeface="Aptos"/>
              </a:rPr>
              <a:t>Department of Education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48840" y="6528816"/>
            <a:ext cx="8595360" cy="0"/>
          </a:xfrm>
          <a:prstGeom prst="line">
            <a:avLst/>
          </a:prstGeom>
          <a:ln w="12700">
            <a:solidFill>
              <a:srgbClr val="B9D8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D11435DC-D4C4-D146-4C3C-3B063CCECCF2}"/>
              </a:ext>
            </a:extLst>
          </p:cNvPr>
          <p:cNvSpPr/>
          <p:nvPr/>
        </p:nvSpPr>
        <p:spPr>
          <a:xfrm>
            <a:off x="6645067" y="1926341"/>
            <a:ext cx="73152" cy="73152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17">
            <a:extLst>
              <a:ext uri="{FF2B5EF4-FFF2-40B4-BE49-F238E27FC236}">
                <a16:creationId xmlns:a16="http://schemas.microsoft.com/office/drawing/2014/main" id="{4C555D45-6D65-1A28-E9CB-7762243F1875}"/>
              </a:ext>
            </a:extLst>
          </p:cNvPr>
          <p:cNvCxnSpPr>
            <a:cxnSpLocks/>
            <a:endCxn id="40" idx="6"/>
          </p:cNvCxnSpPr>
          <p:nvPr/>
        </p:nvCxnSpPr>
        <p:spPr>
          <a:xfrm flipH="1" flipV="1">
            <a:off x="6718219" y="1962917"/>
            <a:ext cx="3065861" cy="36576"/>
          </a:xfrm>
          <a:prstGeom prst="line">
            <a:avLst/>
          </a:prstGeom>
          <a:ln w="17780">
            <a:solidFill>
              <a:srgbClr val="E6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5005E6FF-F6AE-3700-982C-D78608416915}"/>
              </a:ext>
            </a:extLst>
          </p:cNvPr>
          <p:cNvSpPr/>
          <p:nvPr/>
        </p:nvSpPr>
        <p:spPr>
          <a:xfrm>
            <a:off x="5425863" y="2231128"/>
            <a:ext cx="73152" cy="73152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31">
            <a:extLst>
              <a:ext uri="{FF2B5EF4-FFF2-40B4-BE49-F238E27FC236}">
                <a16:creationId xmlns:a16="http://schemas.microsoft.com/office/drawing/2014/main" id="{EEDA5BA5-2AA4-D3DE-4FD2-2D55A00A21D2}"/>
              </a:ext>
            </a:extLst>
          </p:cNvPr>
          <p:cNvCxnSpPr>
            <a:cxnSpLocks/>
            <a:stCxn id="27" idx="1"/>
            <a:endCxn id="47" idx="2"/>
          </p:cNvCxnSpPr>
          <p:nvPr/>
        </p:nvCxnSpPr>
        <p:spPr>
          <a:xfrm flipH="1" flipV="1">
            <a:off x="5425863" y="2267704"/>
            <a:ext cx="4358217" cy="2606048"/>
          </a:xfrm>
          <a:prstGeom prst="line">
            <a:avLst/>
          </a:prstGeom>
          <a:ln w="17780">
            <a:solidFill>
              <a:srgbClr val="E6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fafsa_app_redacted_clean.png">
            <a:extLst>
              <a:ext uri="{FF2B5EF4-FFF2-40B4-BE49-F238E27FC236}">
                <a16:creationId xmlns:a16="http://schemas.microsoft.com/office/drawing/2014/main" id="{FD93E386-9B4E-529A-C146-428E5F93E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325880"/>
            <a:ext cx="6492240" cy="486460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384048" y="201168"/>
            <a:ext cx="960120" cy="45720"/>
          </a:xfrm>
          <a:prstGeom prst="rect">
            <a:avLst/>
          </a:prstGeom>
          <a:solidFill>
            <a:srgbClr val="E69500"/>
          </a:solidFill>
          <a:ln w="9525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365760"/>
            <a:ext cx="10972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03C71"/>
                </a:solidFill>
                <a:latin typeface="Aptos Display"/>
              </a:rPr>
              <a:t>How to Read the FAFSA Completion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96112"/>
            <a:ext cx="1106424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1F4E79"/>
                </a:solidFill>
                <a:latin typeface="Aptos"/>
              </a:rPr>
              <a:t>Use the grouped bars and labels to compare a selected school with its LEA and the state over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4837613"/>
            <a:ext cx="2148840" cy="1338941"/>
          </a:xfrm>
          <a:prstGeom prst="roundRect">
            <a:avLst/>
          </a:prstGeom>
          <a:solidFill>
            <a:srgbClr val="EAF5FF"/>
          </a:solidFill>
          <a:ln w="9525">
            <a:solidFill>
              <a:srgbClr val="EA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92608" y="4965630"/>
            <a:ext cx="384048" cy="384048"/>
          </a:xfrm>
          <a:prstGeom prst="ellipse">
            <a:avLst/>
          </a:prstGeom>
          <a:solidFill>
            <a:srgbClr val="003C71"/>
          </a:solidFill>
          <a:ln w="6350"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5038783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993062"/>
            <a:ext cx="1490472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60" b="1" dirty="0">
                <a:solidFill>
                  <a:srgbClr val="003C71"/>
                </a:solidFill>
                <a:latin typeface="Aptos Display"/>
              </a:rPr>
              <a:t>Months on the
x-axis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414339"/>
            <a:ext cx="1490472" cy="46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9" b="0" dirty="0">
                <a:solidFill>
                  <a:srgbClr val="1F4E79"/>
                </a:solidFill>
                <a:latin typeface="Aptos"/>
              </a:rPr>
              <a:t>The months show
the cumulative
reporting timeline
(October–May).</a:t>
            </a:r>
          </a:p>
        </p:txBody>
      </p:sp>
      <p:cxnSp>
        <p:nvCxnSpPr>
          <p:cNvPr id="11" name="Connector 10"/>
          <p:cNvCxnSpPr>
            <a:cxnSpLocks/>
            <a:stCxn id="6" idx="3"/>
            <a:endCxn id="12" idx="2"/>
          </p:cNvCxnSpPr>
          <p:nvPr/>
        </p:nvCxnSpPr>
        <p:spPr>
          <a:xfrm>
            <a:off x="2350008" y="5507084"/>
            <a:ext cx="2311693" cy="80359"/>
          </a:xfrm>
          <a:prstGeom prst="line">
            <a:avLst/>
          </a:prstGeom>
          <a:ln w="17780">
            <a:solidFill>
              <a:srgbClr val="003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661701" y="5550867"/>
            <a:ext cx="73152" cy="73152"/>
          </a:xfrm>
          <a:prstGeom prst="ellipse">
            <a:avLst/>
          </a:prstGeom>
          <a:solidFill>
            <a:srgbClr val="003C71"/>
          </a:solidFill>
          <a:ln w="6350"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1168" y="2406613"/>
            <a:ext cx="2148840" cy="1280160"/>
          </a:xfrm>
          <a:prstGeom prst="roundRect">
            <a:avLst/>
          </a:prstGeom>
          <a:solidFill>
            <a:srgbClr val="EAF5FF"/>
          </a:solidFill>
          <a:ln w="9525">
            <a:solidFill>
              <a:srgbClr val="EA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92608" y="2534629"/>
            <a:ext cx="384048" cy="384048"/>
          </a:xfrm>
          <a:prstGeom prst="ellipse">
            <a:avLst/>
          </a:prstGeom>
          <a:solidFill>
            <a:srgbClr val="003C71"/>
          </a:solidFill>
          <a:ln w="6350"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" y="2607782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2552917"/>
            <a:ext cx="1490472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60" b="1" dirty="0">
                <a:solidFill>
                  <a:srgbClr val="003C71"/>
                </a:solidFill>
                <a:latin typeface="Aptos Display"/>
              </a:rPr>
              <a:t>Percent on the
y-axis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2982685"/>
            <a:ext cx="1490472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9" b="0" dirty="0">
                <a:solidFill>
                  <a:srgbClr val="1F4E79"/>
                </a:solidFill>
                <a:latin typeface="Aptos"/>
              </a:rPr>
              <a:t>The chart shows the
cumulative share of
seniors with a
completed FAFSA.</a:t>
            </a:r>
          </a:p>
        </p:txBody>
      </p:sp>
      <p:cxnSp>
        <p:nvCxnSpPr>
          <p:cNvPr id="18" name="Connector 17"/>
          <p:cNvCxnSpPr>
            <a:cxnSpLocks/>
            <a:stCxn id="13" idx="3"/>
            <a:endCxn id="19" idx="1"/>
          </p:cNvCxnSpPr>
          <p:nvPr/>
        </p:nvCxnSpPr>
        <p:spPr>
          <a:xfrm>
            <a:off x="2350008" y="3046693"/>
            <a:ext cx="709277" cy="693902"/>
          </a:xfrm>
          <a:prstGeom prst="line">
            <a:avLst/>
          </a:prstGeom>
          <a:ln w="17780">
            <a:solidFill>
              <a:srgbClr val="003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048572" y="3729882"/>
            <a:ext cx="73152" cy="73152"/>
          </a:xfrm>
          <a:prstGeom prst="ellipse">
            <a:avLst/>
          </a:prstGeom>
          <a:solidFill>
            <a:srgbClr val="003C71"/>
          </a:solidFill>
          <a:ln w="6350">
            <a:solidFill>
              <a:srgbClr val="003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921240" y="3895344"/>
            <a:ext cx="2148840" cy="1389888"/>
          </a:xfrm>
          <a:prstGeom prst="roundRect">
            <a:avLst/>
          </a:prstGeom>
          <a:solidFill>
            <a:srgbClr val="FFF5DE"/>
          </a:solidFill>
          <a:ln w="9525"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12680" y="4023359"/>
            <a:ext cx="384048" cy="384048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12680" y="4096512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5946" y="4042752"/>
            <a:ext cx="1447800" cy="3570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1" dirty="0">
                <a:solidFill>
                  <a:srgbClr val="003C71"/>
                </a:solidFill>
                <a:latin typeface="Aptos Display"/>
              </a:rPr>
              <a:t>Compare school,
LEA, and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1592" y="4480560"/>
            <a:ext cx="1490472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9" b="0" dirty="0">
                <a:solidFill>
                  <a:srgbClr val="1F4E79"/>
                </a:solidFill>
                <a:latin typeface="Aptos"/>
              </a:rPr>
              <a:t>Each month shows
side-by-side bars for
the selected school,
its LEA, and the state.</a:t>
            </a:r>
          </a:p>
        </p:txBody>
      </p:sp>
      <p:cxnSp>
        <p:nvCxnSpPr>
          <p:cNvPr id="25" name="Connector 24"/>
          <p:cNvCxnSpPr>
            <a:cxnSpLocks/>
            <a:endCxn id="26" idx="2"/>
          </p:cNvCxnSpPr>
          <p:nvPr/>
        </p:nvCxnSpPr>
        <p:spPr>
          <a:xfrm flipH="1">
            <a:off x="7657825" y="4590288"/>
            <a:ext cx="2263415" cy="118872"/>
          </a:xfrm>
          <a:prstGeom prst="line">
            <a:avLst/>
          </a:prstGeom>
          <a:ln w="17780">
            <a:solidFill>
              <a:srgbClr val="E6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657825" y="4672584"/>
            <a:ext cx="73152" cy="73152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921240" y="1883664"/>
            <a:ext cx="2148840" cy="1353312"/>
          </a:xfrm>
          <a:prstGeom prst="roundRect">
            <a:avLst/>
          </a:prstGeom>
          <a:solidFill>
            <a:srgbClr val="FFF5DE"/>
          </a:solidFill>
          <a:ln w="9525">
            <a:solidFill>
              <a:srgbClr val="FFF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012680" y="2011680"/>
            <a:ext cx="384048" cy="384048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12680" y="2084833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1592" y="2112265"/>
            <a:ext cx="1490472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60" b="1" dirty="0">
                <a:solidFill>
                  <a:srgbClr val="003C71"/>
                </a:solidFill>
                <a:latin typeface="Aptos Display"/>
              </a:rPr>
              <a:t>Read the value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1592" y="2388108"/>
            <a:ext cx="1490472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69" b="0" dirty="0">
                <a:solidFill>
                  <a:srgbClr val="1F4E79"/>
                </a:solidFill>
                <a:latin typeface="Aptos"/>
              </a:rPr>
              <a:t>The percentages above
each bar show the exact
cumulative FAFSA
completion values.</a:t>
            </a:r>
          </a:p>
        </p:txBody>
      </p:sp>
      <p:cxnSp>
        <p:nvCxnSpPr>
          <p:cNvPr id="32" name="Connector 31"/>
          <p:cNvCxnSpPr>
            <a:cxnSpLocks/>
            <a:stCxn id="27" idx="1"/>
            <a:endCxn id="33" idx="3"/>
          </p:cNvCxnSpPr>
          <p:nvPr/>
        </p:nvCxnSpPr>
        <p:spPr>
          <a:xfrm flipH="1">
            <a:off x="8358572" y="2560320"/>
            <a:ext cx="1562668" cy="1158743"/>
          </a:xfrm>
          <a:prstGeom prst="line">
            <a:avLst/>
          </a:prstGeom>
          <a:ln w="17780">
            <a:solidFill>
              <a:srgbClr val="E6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347859" y="3656624"/>
            <a:ext cx="73152" cy="73152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" y="6327648"/>
            <a:ext cx="1508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03C71"/>
                </a:solidFill>
                <a:latin typeface="Georgia"/>
              </a:rPr>
              <a:t>Delaware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6537960"/>
            <a:ext cx="1600200" cy="1554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690B8"/>
                </a:solidFill>
                <a:latin typeface="Aptos"/>
              </a:rPr>
              <a:t>Department of Education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48840" y="6528816"/>
            <a:ext cx="8595360" cy="0"/>
          </a:xfrm>
          <a:prstGeom prst="line">
            <a:avLst/>
          </a:prstGeom>
          <a:ln w="12700">
            <a:solidFill>
              <a:srgbClr val="B9D8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4">
            <a:extLst>
              <a:ext uri="{FF2B5EF4-FFF2-40B4-BE49-F238E27FC236}">
                <a16:creationId xmlns:a16="http://schemas.microsoft.com/office/drawing/2014/main" id="{D7A38FE4-52B2-A59C-FF9D-E787E4516D2C}"/>
              </a:ext>
            </a:extLst>
          </p:cNvPr>
          <p:cNvCxnSpPr>
            <a:cxnSpLocks/>
            <a:stCxn id="20" idx="1"/>
            <a:endCxn id="45" idx="6"/>
          </p:cNvCxnSpPr>
          <p:nvPr/>
        </p:nvCxnSpPr>
        <p:spPr>
          <a:xfrm flipH="1">
            <a:off x="7937170" y="4590288"/>
            <a:ext cx="1984070" cy="271272"/>
          </a:xfrm>
          <a:prstGeom prst="line">
            <a:avLst/>
          </a:prstGeom>
          <a:ln w="17780">
            <a:solidFill>
              <a:srgbClr val="E6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24">
            <a:extLst>
              <a:ext uri="{FF2B5EF4-FFF2-40B4-BE49-F238E27FC236}">
                <a16:creationId xmlns:a16="http://schemas.microsoft.com/office/drawing/2014/main" id="{AA107772-B45A-AD4C-62EA-A80C9BDB68D7}"/>
              </a:ext>
            </a:extLst>
          </p:cNvPr>
          <p:cNvCxnSpPr>
            <a:cxnSpLocks/>
            <a:stCxn id="20" idx="1"/>
            <a:endCxn id="46" idx="2"/>
          </p:cNvCxnSpPr>
          <p:nvPr/>
        </p:nvCxnSpPr>
        <p:spPr>
          <a:xfrm flipH="1">
            <a:off x="8071234" y="4590288"/>
            <a:ext cx="1850006" cy="423672"/>
          </a:xfrm>
          <a:prstGeom prst="line">
            <a:avLst/>
          </a:prstGeom>
          <a:ln w="17780">
            <a:solidFill>
              <a:srgbClr val="E6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BD510D90-7E08-3841-A292-B3D91DF9842C}"/>
              </a:ext>
            </a:extLst>
          </p:cNvPr>
          <p:cNvSpPr/>
          <p:nvPr/>
        </p:nvSpPr>
        <p:spPr>
          <a:xfrm>
            <a:off x="7864018" y="4824984"/>
            <a:ext cx="73152" cy="73152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4174E70-5D7A-41ED-6D32-A20AC0C31266}"/>
              </a:ext>
            </a:extLst>
          </p:cNvPr>
          <p:cNvSpPr/>
          <p:nvPr/>
        </p:nvSpPr>
        <p:spPr>
          <a:xfrm>
            <a:off x="8071234" y="4977384"/>
            <a:ext cx="73152" cy="73152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31">
            <a:extLst>
              <a:ext uri="{FF2B5EF4-FFF2-40B4-BE49-F238E27FC236}">
                <a16:creationId xmlns:a16="http://schemas.microsoft.com/office/drawing/2014/main" id="{ADB1560D-F3D9-9859-F6D9-2A37080BA887}"/>
              </a:ext>
            </a:extLst>
          </p:cNvPr>
          <p:cNvCxnSpPr>
            <a:cxnSpLocks/>
            <a:stCxn id="27" idx="1"/>
            <a:endCxn id="52" idx="3"/>
          </p:cNvCxnSpPr>
          <p:nvPr/>
        </p:nvCxnSpPr>
        <p:spPr>
          <a:xfrm flipH="1">
            <a:off x="8578583" y="2560320"/>
            <a:ext cx="1342657" cy="1084718"/>
          </a:xfrm>
          <a:prstGeom prst="line">
            <a:avLst/>
          </a:prstGeom>
          <a:ln w="17780">
            <a:solidFill>
              <a:srgbClr val="E6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31">
            <a:extLst>
              <a:ext uri="{FF2B5EF4-FFF2-40B4-BE49-F238E27FC236}">
                <a16:creationId xmlns:a16="http://schemas.microsoft.com/office/drawing/2014/main" id="{2C9C1361-237F-BF0A-D9F6-49C554569C6B}"/>
              </a:ext>
            </a:extLst>
          </p:cNvPr>
          <p:cNvCxnSpPr>
            <a:cxnSpLocks/>
            <a:stCxn id="27" idx="1"/>
            <a:endCxn id="53" idx="3"/>
          </p:cNvCxnSpPr>
          <p:nvPr/>
        </p:nvCxnSpPr>
        <p:spPr>
          <a:xfrm flipH="1">
            <a:off x="8777089" y="2560320"/>
            <a:ext cx="1144151" cy="1500428"/>
          </a:xfrm>
          <a:prstGeom prst="line">
            <a:avLst/>
          </a:prstGeom>
          <a:ln w="17780">
            <a:solidFill>
              <a:srgbClr val="E6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6BD9948-55D3-FC99-7E4F-791DC06A67F8}"/>
              </a:ext>
            </a:extLst>
          </p:cNvPr>
          <p:cNvSpPr/>
          <p:nvPr/>
        </p:nvSpPr>
        <p:spPr>
          <a:xfrm>
            <a:off x="8567870" y="3582599"/>
            <a:ext cx="73152" cy="73152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B76D56E-9FE1-CA34-2916-54858BC4B159}"/>
              </a:ext>
            </a:extLst>
          </p:cNvPr>
          <p:cNvSpPr/>
          <p:nvPr/>
        </p:nvSpPr>
        <p:spPr>
          <a:xfrm>
            <a:off x="8766376" y="3998309"/>
            <a:ext cx="73152" cy="73152"/>
          </a:xfrm>
          <a:prstGeom prst="ellipse">
            <a:avLst/>
          </a:prstGeom>
          <a:solidFill>
            <a:srgbClr val="E69500"/>
          </a:solidFill>
          <a:ln w="6350">
            <a:solidFill>
              <a:srgbClr val="E6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61E8E4F7969D4C8BCB20B321513B3F" ma:contentTypeVersion="12" ma:contentTypeDescription="Create a new document." ma:contentTypeScope="" ma:versionID="02301ece707c47d55064c1462317e872">
  <xsd:schema xmlns:xsd="http://www.w3.org/2001/XMLSchema" xmlns:xs="http://www.w3.org/2001/XMLSchema" xmlns:p="http://schemas.microsoft.com/office/2006/metadata/properties" xmlns:ns2="6ebc68b0-7f3c-4577-b3f0-5291d71a0faf" targetNamespace="http://schemas.microsoft.com/office/2006/metadata/properties" ma:root="true" ma:fieldsID="c0ae8da7727f67fdcf1f40ff4ad57e3e" ns2:_="">
    <xsd:import namespace="6ebc68b0-7f3c-4577-b3f0-5291d71a0f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bc68b0-7f3c-4577-b3f0-5291d71a0f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a00141d-80f0-4ca7-8ba9-0163cf3648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bc68b0-7f3c-4577-b3f0-5291d71a0fa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2A705B4-7C0E-4D55-A2FC-F3ABD96BF7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DAF4BF-93BB-41C2-8A73-CFE911C800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bc68b0-7f3c-4577-b3f0-5291d71a0f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EB7749-00D5-483E-B11C-07B9BB5DAB8D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6ebc68b0-7f3c-4577-b3f0-5291d71a0faf"/>
    <ds:schemaRef ds:uri="http://purl.org/dc/dcmitype/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280</Words>
  <Application>Microsoft Macintosh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Faiello Matthew (Contractor)</cp:lastModifiedBy>
  <cp:revision>3</cp:revision>
  <dcterms:created xsi:type="dcterms:W3CDTF">2013-01-27T09:14:16Z</dcterms:created>
  <dcterms:modified xsi:type="dcterms:W3CDTF">2026-09-21T09:01:24Z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0x0101005461E8E4F7969D4C8BCB20B321513B3F</vt:lpwstr>
  </property>
  <property fmtid="{D5CDD505-2E9C-101B-9397-08002B2CF9AE}" pid="3" name="MediaServiceImageTags">
    <vt:lpwstr/>
  </property>
</Properties>
</file>